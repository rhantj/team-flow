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72B2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1C2A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AI · DATA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7EB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회의록 한 장이 업무 보드가 되고,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7EB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 보드가 평가 근거가 되는 구조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v2.0 기준 논리/물리 ERD, 14개 테이블 정의, 테이블 간 관계, 핵심 데이터 흐름 3종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엔티티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71800" y="4709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71800" y="5349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테이블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0" y="4709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303520" y="5349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관계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4709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35240" y="5349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데이터 흐름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WorkFlow_AI_PRD.md v2.0 기준 재구성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다섯 개 파트로 정리한 데이터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13232"/>
          </a:xfrm>
          <a:prstGeom prst="rect">
            <a:avLst/>
          </a:prstGeom>
          <a:solidFill>
            <a:srgbClr val="FAFAF8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7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73736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ERD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개념 10개와 관계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1064240" cy="713232"/>
          </a:xfrm>
          <a:prstGeom prst="rect">
            <a:avLst/>
          </a:prstGeom>
          <a:solidFill>
            <a:srgbClr val="FAFAF8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5786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7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257860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ERD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578608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테이블 · 허브 &amp; 스포크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11064240" cy="713232"/>
          </a:xfrm>
          <a:prstGeom prst="rect">
            <a:avLst/>
          </a:prstGeom>
          <a:solidFill>
            <a:srgbClr val="FAFAF8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1985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419856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정의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419856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컬럼 · 타입 · 키 (물리 스키마)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11064240" cy="713232"/>
          </a:xfrm>
          <a:prstGeom prst="rect">
            <a:avLst/>
          </a:prstGeom>
          <a:solidFill>
            <a:srgbClr val="FAFAF8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6110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261104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요약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4261104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18개 관계와 카디널리티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11064240" cy="713232"/>
          </a:xfrm>
          <a:prstGeom prst="rect">
            <a:avLst/>
          </a:prstGeom>
          <a:solidFill>
            <a:srgbClr val="FAFAF8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1023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4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5102352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흐름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5102352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회의록→업무, GitHub→ML, 심사자 평가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7A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논리 ERD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비즈니스 개념 수준의 관계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세부(폴리모픽 FK, 감사 로그 등)를 걷어내고 업무적으로 의미 있는 10개 엔티티만 남긴 개념 모델입니다.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38928" y="17830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2F7A6F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76088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(Project)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276088" y="22037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허브 · 협업 단위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83296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B8863B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0456" y="1856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(User)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0456" y="2203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허브 · 팀장/팀원/심사자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42048" y="2171700"/>
            <a:ext cx="841248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2048" y="187909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(N:M · 역할)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632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4D6FBD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209544"/>
            <a:ext cx="1298448" cy="146304"/>
          </a:xfrm>
          <a:prstGeom prst="rect">
            <a:avLst/>
          </a:prstGeom>
          <a:solidFill>
            <a:srgbClr val="4D6FBD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(Meeting)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" y="3429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포함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90488" y="2560320"/>
            <a:ext cx="-4992624" cy="502920"/>
          </a:xfrm>
          <a:prstGeom prst="line">
            <a:avLst/>
          </a:prstGeom>
          <a:noFill/>
          <a:ln w="13970">
            <a:solidFill>
              <a:srgbClr val="2F7A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75104" y="30632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75104" y="30632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7457BD"/>
          </a:solidFill>
          <a:ln/>
        </p:spPr>
      </p:sp>
      <p:sp>
        <p:nvSpPr>
          <p:cNvPr id="22" name="Shape 20"/>
          <p:cNvSpPr/>
          <p:nvPr/>
        </p:nvSpPr>
        <p:spPr>
          <a:xfrm>
            <a:off x="1975104" y="3209544"/>
            <a:ext cx="1298448" cy="146304"/>
          </a:xfrm>
          <a:prstGeom prst="rect">
            <a:avLst/>
          </a:prstGeom>
          <a:solidFill>
            <a:srgbClr val="7457BD"/>
          </a:solidFill>
          <a:ln/>
        </p:spPr>
      </p:sp>
      <p:sp>
        <p:nvSpPr>
          <p:cNvPr id="23" name="Text 21"/>
          <p:cNvSpPr/>
          <p:nvPr/>
        </p:nvSpPr>
        <p:spPr>
          <a:xfrm>
            <a:off x="202996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활동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29968" y="3429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커밋·PR·Issue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90488" y="2560320"/>
            <a:ext cx="-3566160" cy="502920"/>
          </a:xfrm>
          <a:prstGeom prst="line">
            <a:avLst/>
          </a:prstGeom>
          <a:noFill/>
          <a:ln w="13970">
            <a:solidFill>
              <a:srgbClr val="2F7A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01568" y="30632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01568" y="30632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4A8F57"/>
          </a:solidFill>
          <a:ln/>
        </p:spPr>
      </p:sp>
      <p:sp>
        <p:nvSpPr>
          <p:cNvPr id="28" name="Shape 26"/>
          <p:cNvSpPr/>
          <p:nvPr/>
        </p:nvSpPr>
        <p:spPr>
          <a:xfrm>
            <a:off x="3401568" y="3209544"/>
            <a:ext cx="1298448" cy="146304"/>
          </a:xfrm>
          <a:prstGeom prst="rect">
            <a:avLst/>
          </a:prstGeom>
          <a:solidFill>
            <a:srgbClr val="4A8F57"/>
          </a:solidFill>
          <a:ln/>
        </p:spPr>
      </p:sp>
      <p:sp>
        <p:nvSpPr>
          <p:cNvPr id="29" name="Text 27"/>
          <p:cNvSpPr/>
          <p:nvPr/>
        </p:nvSpPr>
        <p:spPr>
          <a:xfrm>
            <a:off x="3456432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(Deliverable)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56432" y="3429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발표자료·보고서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90488" y="2560320"/>
            <a:ext cx="-2139696" cy="502920"/>
          </a:xfrm>
          <a:prstGeom prst="line">
            <a:avLst/>
          </a:prstGeom>
          <a:noFill/>
          <a:ln w="13970">
            <a:solidFill>
              <a:srgbClr val="2F7A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30632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28032" y="30632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B04F80"/>
          </a:solidFill>
          <a:ln/>
        </p:spPr>
      </p:sp>
      <p:sp>
        <p:nvSpPr>
          <p:cNvPr id="34" name="Shape 32"/>
          <p:cNvSpPr/>
          <p:nvPr/>
        </p:nvSpPr>
        <p:spPr>
          <a:xfrm>
            <a:off x="4828032" y="3209544"/>
            <a:ext cx="1298448" cy="146304"/>
          </a:xfrm>
          <a:prstGeom prst="rect">
            <a:avLst/>
          </a:prstGeom>
          <a:solidFill>
            <a:srgbClr val="B04F80"/>
          </a:solidFill>
          <a:ln/>
        </p:spPr>
      </p:sp>
      <p:sp>
        <p:nvSpPr>
          <p:cNvPr id="35" name="Text 33"/>
          <p:cNvSpPr/>
          <p:nvPr/>
        </p:nvSpPr>
        <p:spPr>
          <a:xfrm>
            <a:off x="4882896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예측 (Prediction)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82896" y="3429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지연·편중 점수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90488" y="2560320"/>
            <a:ext cx="-713232" cy="502920"/>
          </a:xfrm>
          <a:prstGeom prst="line">
            <a:avLst/>
          </a:prstGeom>
          <a:noFill/>
          <a:ln w="13970">
            <a:solidFill>
              <a:srgbClr val="2F7A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30632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54496" y="30632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C26B34"/>
          </a:solidFill>
          <a:ln/>
        </p:spPr>
      </p:sp>
      <p:sp>
        <p:nvSpPr>
          <p:cNvPr id="40" name="Shape 38"/>
          <p:cNvSpPr/>
          <p:nvPr/>
        </p:nvSpPr>
        <p:spPr>
          <a:xfrm>
            <a:off x="6254496" y="3209544"/>
            <a:ext cx="1298448" cy="146304"/>
          </a:xfrm>
          <a:prstGeom prst="rect">
            <a:avLst/>
          </a:prstGeom>
          <a:solidFill>
            <a:srgbClr val="C26B34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(Task)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429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 포함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90488" y="2560320"/>
            <a:ext cx="667512" cy="502920"/>
          </a:xfrm>
          <a:prstGeom prst="line">
            <a:avLst/>
          </a:prstGeom>
          <a:noFill/>
          <a:ln w="13970">
            <a:solidFill>
              <a:srgbClr val="2F7A6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43416" y="2560320"/>
            <a:ext cx="-2093976" cy="502920"/>
          </a:xfrm>
          <a:prstGeom prst="line">
            <a:avLst/>
          </a:prstGeom>
          <a:noFill/>
          <a:ln w="13970">
            <a:solidFill>
              <a:srgbClr val="B886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30632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680960" y="30632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7457BD"/>
          </a:solidFill>
          <a:ln/>
        </p:spPr>
      </p:sp>
      <p:sp>
        <p:nvSpPr>
          <p:cNvPr id="47" name="Shape 45"/>
          <p:cNvSpPr/>
          <p:nvPr/>
        </p:nvSpPr>
        <p:spPr>
          <a:xfrm>
            <a:off x="7680960" y="3209544"/>
            <a:ext cx="1298448" cy="146304"/>
          </a:xfrm>
          <a:prstGeom prst="rect">
            <a:avLst/>
          </a:prstGeom>
          <a:solidFill>
            <a:srgbClr val="7457BD"/>
          </a:solidFill>
          <a:ln/>
        </p:spPr>
      </p:sp>
      <p:sp>
        <p:nvSpPr>
          <p:cNvPr id="48" name="Text 46"/>
          <p:cNvSpPr/>
          <p:nvPr/>
        </p:nvSpPr>
        <p:spPr>
          <a:xfrm>
            <a:off x="7735824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(Activity)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35824" y="3429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활동 이력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90488" y="2560320"/>
            <a:ext cx="2093976" cy="502920"/>
          </a:xfrm>
          <a:prstGeom prst="line">
            <a:avLst/>
          </a:prstGeom>
          <a:noFill/>
          <a:ln w="13970">
            <a:solidFill>
              <a:srgbClr val="2F7A6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43416" y="2560320"/>
            <a:ext cx="-667512" cy="502920"/>
          </a:xfrm>
          <a:prstGeom prst="line">
            <a:avLst/>
          </a:prstGeom>
          <a:noFill/>
          <a:ln w="13970">
            <a:solidFill>
              <a:srgbClr val="B886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07424" y="30632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107424" y="30632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B04F80"/>
          </a:solidFill>
          <a:ln/>
        </p:spPr>
      </p:sp>
      <p:sp>
        <p:nvSpPr>
          <p:cNvPr id="54" name="Shape 52"/>
          <p:cNvSpPr/>
          <p:nvPr/>
        </p:nvSpPr>
        <p:spPr>
          <a:xfrm>
            <a:off x="9107424" y="3209544"/>
            <a:ext cx="1298448" cy="146304"/>
          </a:xfrm>
          <a:prstGeom prst="rect">
            <a:avLst/>
          </a:prstGeom>
          <a:solidFill>
            <a:srgbClr val="B04F80"/>
          </a:solidFill>
          <a:ln/>
        </p:spPr>
      </p:sp>
      <p:sp>
        <p:nvSpPr>
          <p:cNvPr id="55" name="Text 53"/>
          <p:cNvSpPr/>
          <p:nvPr/>
        </p:nvSpPr>
        <p:spPr>
          <a:xfrm>
            <a:off x="916228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기여도 리포트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162288" y="3429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팀원별 근거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90488" y="2560320"/>
            <a:ext cx="3520440" cy="502920"/>
          </a:xfrm>
          <a:prstGeom prst="line">
            <a:avLst/>
          </a:prstGeom>
          <a:noFill/>
          <a:ln w="13970">
            <a:solidFill>
              <a:srgbClr val="2F7A6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43416" y="2560320"/>
            <a:ext cx="758952" cy="502920"/>
          </a:xfrm>
          <a:prstGeom prst="line">
            <a:avLst/>
          </a:prstGeom>
          <a:noFill/>
          <a:ln w="13970">
            <a:solidFill>
              <a:srgbClr val="B886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33888" y="30632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0533888" y="3063240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B04F80"/>
          </a:solidFill>
          <a:ln/>
        </p:spPr>
      </p:sp>
      <p:sp>
        <p:nvSpPr>
          <p:cNvPr id="61" name="Shape 59"/>
          <p:cNvSpPr/>
          <p:nvPr/>
        </p:nvSpPr>
        <p:spPr>
          <a:xfrm>
            <a:off x="10533888" y="3209544"/>
            <a:ext cx="1298448" cy="146304"/>
          </a:xfrm>
          <a:prstGeom prst="rect">
            <a:avLst/>
          </a:prstGeom>
          <a:solidFill>
            <a:srgbClr val="B04F80"/>
          </a:solidFill>
          <a:ln/>
        </p:spPr>
      </p:sp>
      <p:sp>
        <p:nvSpPr>
          <p:cNvPr id="62" name="Text 60"/>
          <p:cNvSpPr/>
          <p:nvPr/>
        </p:nvSpPr>
        <p:spPr>
          <a:xfrm>
            <a:off x="10588752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점수 (Score)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588752" y="3429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심사자 입력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90488" y="2560320"/>
            <a:ext cx="4946904" cy="502920"/>
          </a:xfrm>
          <a:prstGeom prst="line">
            <a:avLst/>
          </a:prstGeom>
          <a:noFill/>
          <a:ln w="13970">
            <a:solidFill>
              <a:srgbClr val="2F7A6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43416" y="2560320"/>
            <a:ext cx="2185416" cy="502920"/>
          </a:xfrm>
          <a:prstGeom prst="line">
            <a:avLst/>
          </a:prstGeom>
          <a:noFill/>
          <a:ln w="13970">
            <a:solidFill>
              <a:srgbClr val="B886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24328" y="4114800"/>
            <a:ext cx="2139696" cy="256032"/>
          </a:xfrm>
          <a:prstGeom prst="line">
            <a:avLst/>
          </a:prstGeom>
          <a:noFill/>
          <a:ln w="12700">
            <a:solidFill>
              <a:srgbClr val="8A8F89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4764024" y="4370832"/>
            <a:ext cx="2139696" cy="-256032"/>
          </a:xfrm>
          <a:prstGeom prst="line">
            <a:avLst/>
          </a:prstGeom>
          <a:noFill/>
          <a:ln w="12700">
            <a:solidFill>
              <a:srgbClr val="8A8F89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3849624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선택적으로 연결됨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48640" y="5074920"/>
            <a:ext cx="109728" cy="109728"/>
          </a:xfrm>
          <a:prstGeom prst="ellipse">
            <a:avLst/>
          </a:prstGeom>
          <a:solidFill>
            <a:srgbClr val="2F7A6F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4992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Project가 소유하는 개념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291840" y="5074920"/>
            <a:ext cx="109728" cy="109728"/>
          </a:xfrm>
          <a:prstGeom prst="ellipse">
            <a:avLst/>
          </a:prstGeom>
          <a:solidFill>
            <a:srgbClr val="B8863B"/>
          </a:solidFill>
          <a:ln/>
        </p:spPr>
      </p:sp>
      <p:sp>
        <p:nvSpPr>
          <p:cNvPr id="72" name="Text 70"/>
          <p:cNvSpPr/>
          <p:nvPr/>
        </p:nvSpPr>
        <p:spPr>
          <a:xfrm>
            <a:off x="3474720" y="4992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User가 관여하는 개념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meeting_analysis → 회의 속성으로 흡수 · task_checklists → 업무 속성으로 흡수 · audit_logs는 시스템 로그로 제외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7A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물리 ERD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14개 테이블 · 허브 &amp; 스포크 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/ users가 대부분 테이블을 참조하는 두 허브입니다. 점선은 선택적 FK(github_records.linked_task_id)입니다.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62372" y="1755648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F7A6F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72100" y="181051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72100" y="213969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id · title · deadline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75804" y="1755648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B8863B"/>
          </a:solidFill>
          <a:ln/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5532" y="181051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5532" y="213969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id · email · name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4D6FBD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191256"/>
            <a:ext cx="1051560" cy="192024"/>
          </a:xfrm>
          <a:prstGeom prst="rect">
            <a:avLst/>
          </a:prstGeom>
          <a:solidFill>
            <a:srgbClr val="4D6FB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meetings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594360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6176772" y="2487168"/>
            <a:ext cx="-5102352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82496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82496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7457BD"/>
          </a:solidFill>
          <a:ln/>
        </p:spPr>
      </p:sp>
      <p:sp>
        <p:nvSpPr>
          <p:cNvPr id="20" name="Shape 18"/>
          <p:cNvSpPr/>
          <p:nvPr/>
        </p:nvSpPr>
        <p:spPr>
          <a:xfrm>
            <a:off x="1682496" y="3191256"/>
            <a:ext cx="1051560" cy="192024"/>
          </a:xfrm>
          <a:prstGeom prst="rect">
            <a:avLst/>
          </a:prstGeom>
          <a:solidFill>
            <a:srgbClr val="7457BD"/>
          </a:solidFill>
          <a:ln/>
        </p:spPr>
      </p:sp>
      <p:sp>
        <p:nvSpPr>
          <p:cNvPr id="21" name="Text 19"/>
          <p:cNvSpPr/>
          <p:nvPr/>
        </p:nvSpPr>
        <p:spPr>
          <a:xfrm>
            <a:off x="1728216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github_records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1728216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project_id, linked_task_id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6176772" y="2487168"/>
            <a:ext cx="-3968496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6352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816352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4A8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2816352" y="3191256"/>
            <a:ext cx="1051560" cy="192024"/>
          </a:xfrm>
          <a:prstGeom prst="rect">
            <a:avLst/>
          </a:prstGeom>
          <a:solidFill>
            <a:srgbClr val="4A8F57"/>
          </a:solidFill>
          <a:ln/>
        </p:spPr>
      </p:sp>
      <p:sp>
        <p:nvSpPr>
          <p:cNvPr id="27" name="Text 25"/>
          <p:cNvSpPr/>
          <p:nvPr/>
        </p:nvSpPr>
        <p:spPr>
          <a:xfrm>
            <a:off x="2862072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2862072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6176772" y="2487168"/>
            <a:ext cx="-2834640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50208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950208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B04F80"/>
          </a:solidFill>
          <a:ln/>
        </p:spPr>
      </p:sp>
      <p:sp>
        <p:nvSpPr>
          <p:cNvPr id="32" name="Shape 30"/>
          <p:cNvSpPr/>
          <p:nvPr/>
        </p:nvSpPr>
        <p:spPr>
          <a:xfrm>
            <a:off x="3950208" y="3191256"/>
            <a:ext cx="1051560" cy="192024"/>
          </a:xfrm>
          <a:prstGeom prst="rect">
            <a:avLst/>
          </a:prstGeom>
          <a:solidFill>
            <a:srgbClr val="B04F80"/>
          </a:solidFill>
          <a:ln/>
        </p:spPr>
      </p:sp>
      <p:sp>
        <p:nvSpPr>
          <p:cNvPr id="33" name="Text 31"/>
          <p:cNvSpPr/>
          <p:nvPr/>
        </p:nvSpPr>
        <p:spPr>
          <a:xfrm>
            <a:off x="3995928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ml_predictions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3995928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 · 폴리모픽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6176772" y="2487168"/>
            <a:ext cx="-1700784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4064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84064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6B7269"/>
          </a:solidFill>
          <a:ln/>
        </p:spPr>
      </p:sp>
      <p:sp>
        <p:nvSpPr>
          <p:cNvPr id="38" name="Shape 36"/>
          <p:cNvSpPr/>
          <p:nvPr/>
        </p:nvSpPr>
        <p:spPr>
          <a:xfrm>
            <a:off x="5084064" y="3191256"/>
            <a:ext cx="1051560" cy="192024"/>
          </a:xfrm>
          <a:prstGeom prst="rect">
            <a:avLst/>
          </a:prstGeom>
          <a:solidFill>
            <a:srgbClr val="6B7269"/>
          </a:solidFill>
          <a:ln/>
        </p:spPr>
      </p:sp>
      <p:sp>
        <p:nvSpPr>
          <p:cNvPr id="39" name="Text 37"/>
          <p:cNvSpPr/>
          <p:nvPr/>
        </p:nvSpPr>
        <p:spPr>
          <a:xfrm>
            <a:off x="5129784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project_members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5129784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project_id, user_id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6176772" y="2487168"/>
            <a:ext cx="-603504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44484" y="2487168"/>
            <a:ext cx="-2798064" cy="512064"/>
          </a:xfrm>
          <a:prstGeom prst="line">
            <a:avLst/>
          </a:prstGeom>
          <a:noFill/>
          <a:ln w="12700">
            <a:solidFill>
              <a:srgbClr val="B886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C26B34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3191256"/>
            <a:ext cx="1051560" cy="192024"/>
          </a:xfrm>
          <a:prstGeom prst="rect">
            <a:avLst/>
          </a:prstGeom>
          <a:solidFill>
            <a:srgbClr val="C26B34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6263640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project_id, assignee_id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6176772" y="2487168"/>
            <a:ext cx="530352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44484" y="2487168"/>
            <a:ext cx="-1664208" cy="512064"/>
          </a:xfrm>
          <a:prstGeom prst="line">
            <a:avLst/>
          </a:prstGeom>
          <a:noFill/>
          <a:ln w="12700">
            <a:solidFill>
              <a:srgbClr val="B886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51776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351776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7457BD"/>
          </a:solidFill>
          <a:ln/>
        </p:spPr>
      </p:sp>
      <p:sp>
        <p:nvSpPr>
          <p:cNvPr id="52" name="Shape 50"/>
          <p:cNvSpPr/>
          <p:nvPr/>
        </p:nvSpPr>
        <p:spPr>
          <a:xfrm>
            <a:off x="7351776" y="3191256"/>
            <a:ext cx="1051560" cy="192024"/>
          </a:xfrm>
          <a:prstGeom prst="rect">
            <a:avLst/>
          </a:prstGeom>
          <a:solidFill>
            <a:srgbClr val="7457BD"/>
          </a:solidFill>
          <a:ln/>
        </p:spPr>
      </p:sp>
      <p:sp>
        <p:nvSpPr>
          <p:cNvPr id="53" name="Text 51"/>
          <p:cNvSpPr/>
          <p:nvPr/>
        </p:nvSpPr>
        <p:spPr>
          <a:xfrm>
            <a:off x="7397496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activities</a:t>
            </a:r>
            <a:endParaRPr lang="en-US" sz="730" dirty="0"/>
          </a:p>
        </p:txBody>
      </p:sp>
      <p:sp>
        <p:nvSpPr>
          <p:cNvPr id="54" name="Text 52"/>
          <p:cNvSpPr/>
          <p:nvPr/>
        </p:nvSpPr>
        <p:spPr>
          <a:xfrm>
            <a:off x="7397496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project_id, actor_id</a:t>
            </a:r>
            <a:endParaRPr lang="en-US" sz="660" dirty="0"/>
          </a:p>
        </p:txBody>
      </p:sp>
      <p:sp>
        <p:nvSpPr>
          <p:cNvPr id="55" name="Shape 53"/>
          <p:cNvSpPr/>
          <p:nvPr/>
        </p:nvSpPr>
        <p:spPr>
          <a:xfrm>
            <a:off x="6176772" y="2487168"/>
            <a:ext cx="1664208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44484" y="2487168"/>
            <a:ext cx="-530352" cy="512064"/>
          </a:xfrm>
          <a:prstGeom prst="line">
            <a:avLst/>
          </a:prstGeom>
          <a:noFill/>
          <a:ln w="12700">
            <a:solidFill>
              <a:srgbClr val="B886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85632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485632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B04F80"/>
          </a:solidFill>
          <a:ln/>
        </p:spPr>
      </p:sp>
      <p:sp>
        <p:nvSpPr>
          <p:cNvPr id="59" name="Shape 57"/>
          <p:cNvSpPr/>
          <p:nvPr/>
        </p:nvSpPr>
        <p:spPr>
          <a:xfrm>
            <a:off x="8485632" y="3191256"/>
            <a:ext cx="1051560" cy="192024"/>
          </a:xfrm>
          <a:prstGeom prst="rect">
            <a:avLst/>
          </a:prstGeom>
          <a:solidFill>
            <a:srgbClr val="B04F80"/>
          </a:solidFill>
          <a:ln/>
        </p:spPr>
      </p:sp>
      <p:sp>
        <p:nvSpPr>
          <p:cNvPr id="60" name="Text 58"/>
          <p:cNvSpPr/>
          <p:nvPr/>
        </p:nvSpPr>
        <p:spPr>
          <a:xfrm>
            <a:off x="8531352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contribution_reports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8531352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project_id, user_id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6176772" y="2487168"/>
            <a:ext cx="2798064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44484" y="2487168"/>
            <a:ext cx="603504" cy="512064"/>
          </a:xfrm>
          <a:prstGeom prst="line">
            <a:avLst/>
          </a:prstGeom>
          <a:noFill/>
          <a:ln w="12700">
            <a:solidFill>
              <a:srgbClr val="B886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19488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619488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B04F80"/>
          </a:solidFill>
          <a:ln/>
        </p:spPr>
      </p:sp>
      <p:sp>
        <p:nvSpPr>
          <p:cNvPr id="66" name="Shape 64"/>
          <p:cNvSpPr/>
          <p:nvPr/>
        </p:nvSpPr>
        <p:spPr>
          <a:xfrm>
            <a:off x="9619488" y="3191256"/>
            <a:ext cx="1051560" cy="192024"/>
          </a:xfrm>
          <a:prstGeom prst="rect">
            <a:avLst/>
          </a:prstGeom>
          <a:solidFill>
            <a:srgbClr val="B04F80"/>
          </a:solidFill>
          <a:ln/>
        </p:spPr>
      </p:sp>
      <p:sp>
        <p:nvSpPr>
          <p:cNvPr id="67" name="Text 65"/>
          <p:cNvSpPr/>
          <p:nvPr/>
        </p:nvSpPr>
        <p:spPr>
          <a:xfrm>
            <a:off x="9665208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evaluation_scores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9665208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project_id, user_id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6176772" y="2487168"/>
            <a:ext cx="3931920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444484" y="2487168"/>
            <a:ext cx="1737360" cy="512064"/>
          </a:xfrm>
          <a:prstGeom prst="line">
            <a:avLst/>
          </a:prstGeom>
          <a:noFill/>
          <a:ln w="12700">
            <a:solidFill>
              <a:srgbClr val="B886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753344" y="2999232"/>
            <a:ext cx="1051560" cy="960120"/>
          </a:xfrm>
          <a:prstGeom prst="roundRect">
            <a:avLst>
              <a:gd name="adj" fmla="val 476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0753344" y="2999232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6B7269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53344" y="3191256"/>
            <a:ext cx="1051560" cy="192024"/>
          </a:xfrm>
          <a:prstGeom prst="rect">
            <a:avLst/>
          </a:prstGeom>
          <a:solidFill>
            <a:srgbClr val="6B7269"/>
          </a:solidFill>
          <a:ln/>
        </p:spPr>
      </p:sp>
      <p:sp>
        <p:nvSpPr>
          <p:cNvPr id="74" name="Text 72"/>
          <p:cNvSpPr/>
          <p:nvPr/>
        </p:nvSpPr>
        <p:spPr>
          <a:xfrm>
            <a:off x="10799064" y="2999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730" dirty="0"/>
          </a:p>
        </p:txBody>
      </p:sp>
      <p:sp>
        <p:nvSpPr>
          <p:cNvPr id="75" name="Text 73"/>
          <p:cNvSpPr/>
          <p:nvPr/>
        </p:nvSpPr>
        <p:spPr>
          <a:xfrm>
            <a:off x="10799064" y="34198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user_id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6176772" y="2487168"/>
            <a:ext cx="5065776" cy="512064"/>
          </a:xfrm>
          <a:prstGeom prst="line">
            <a:avLst/>
          </a:prstGeom>
          <a:noFill/>
          <a:ln w="12700">
            <a:solidFill>
              <a:srgbClr val="2F7A6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44484" y="2487168"/>
            <a:ext cx="2871216" cy="512064"/>
          </a:xfrm>
          <a:prstGeom prst="line">
            <a:avLst/>
          </a:prstGeom>
          <a:noFill/>
          <a:ln w="12700">
            <a:solidFill>
              <a:srgbClr val="B886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08276" y="3959352"/>
            <a:ext cx="2267712" cy="201168"/>
          </a:xfrm>
          <a:prstGeom prst="line">
            <a:avLst/>
          </a:prstGeom>
          <a:noFill/>
          <a:ln w="12700">
            <a:solidFill>
              <a:srgbClr val="8A8F89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4475988" y="4160520"/>
            <a:ext cx="2267712" cy="-201168"/>
          </a:xfrm>
          <a:prstGeom prst="line">
            <a:avLst/>
          </a:prstGeom>
          <a:noFill/>
          <a:ln w="12700">
            <a:solidFill>
              <a:srgbClr val="8A8F89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3653028" y="41788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linked_task_id (선택)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074420" y="3959352"/>
            <a:ext cx="0" cy="320040"/>
          </a:xfrm>
          <a:prstGeom prst="line">
            <a:avLst/>
          </a:prstGeom>
          <a:noFill/>
          <a:ln w="12700">
            <a:solidFill>
              <a:srgbClr val="8A8F8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" y="4279392"/>
            <a:ext cx="1051560" cy="548640"/>
          </a:xfrm>
          <a:prstGeom prst="roundRect">
            <a:avLst>
              <a:gd name="adj" fmla="val 8333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8640" y="4279392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4D6FBD"/>
          </a:solidFill>
          <a:ln/>
        </p:spPr>
      </p:sp>
      <p:sp>
        <p:nvSpPr>
          <p:cNvPr id="84" name="Shape 82"/>
          <p:cNvSpPr/>
          <p:nvPr/>
        </p:nvSpPr>
        <p:spPr>
          <a:xfrm>
            <a:off x="548640" y="4398264"/>
            <a:ext cx="1051560" cy="118872"/>
          </a:xfrm>
          <a:prstGeom prst="rect">
            <a:avLst/>
          </a:prstGeom>
          <a:solidFill>
            <a:srgbClr val="4D6FBD"/>
          </a:solidFill>
          <a:ln/>
        </p:spPr>
      </p:sp>
      <p:sp>
        <p:nvSpPr>
          <p:cNvPr id="85" name="Text 83"/>
          <p:cNvSpPr/>
          <p:nvPr/>
        </p:nvSpPr>
        <p:spPr>
          <a:xfrm>
            <a:off x="594360" y="42793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meeting_analysis</a:t>
            </a:r>
            <a:endParaRPr lang="en-US" sz="660" dirty="0"/>
          </a:p>
        </p:txBody>
      </p:sp>
      <p:sp>
        <p:nvSpPr>
          <p:cNvPr id="86" name="Text 84"/>
          <p:cNvSpPr/>
          <p:nvPr/>
        </p:nvSpPr>
        <p:spPr>
          <a:xfrm>
            <a:off x="594360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PK/FK meeting_id (1:1)</a:t>
            </a:r>
            <a:endParaRPr lang="en-US" sz="620" dirty="0"/>
          </a:p>
        </p:txBody>
      </p:sp>
      <p:sp>
        <p:nvSpPr>
          <p:cNvPr id="87" name="Shape 85"/>
          <p:cNvSpPr/>
          <p:nvPr/>
        </p:nvSpPr>
        <p:spPr>
          <a:xfrm>
            <a:off x="6743700" y="3959352"/>
            <a:ext cx="0" cy="320040"/>
          </a:xfrm>
          <a:prstGeom prst="line">
            <a:avLst/>
          </a:prstGeom>
          <a:noFill/>
          <a:ln w="12700">
            <a:solidFill>
              <a:srgbClr val="8A8F8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17920" y="4279392"/>
            <a:ext cx="1051560" cy="548640"/>
          </a:xfrm>
          <a:prstGeom prst="roundRect">
            <a:avLst>
              <a:gd name="adj" fmla="val 8333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217920" y="4279392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C26B34"/>
          </a:solidFill>
          <a:ln/>
        </p:spPr>
      </p:sp>
      <p:sp>
        <p:nvSpPr>
          <p:cNvPr id="90" name="Shape 88"/>
          <p:cNvSpPr/>
          <p:nvPr/>
        </p:nvSpPr>
        <p:spPr>
          <a:xfrm>
            <a:off x="6217920" y="4398264"/>
            <a:ext cx="1051560" cy="118872"/>
          </a:xfrm>
          <a:prstGeom prst="rect">
            <a:avLst/>
          </a:prstGeom>
          <a:solidFill>
            <a:srgbClr val="C26B34"/>
          </a:solidFill>
          <a:ln/>
        </p:spPr>
      </p:sp>
      <p:sp>
        <p:nvSpPr>
          <p:cNvPr id="91" name="Text 89"/>
          <p:cNvSpPr/>
          <p:nvPr/>
        </p:nvSpPr>
        <p:spPr>
          <a:xfrm>
            <a:off x="6263640" y="42793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task_checklists</a:t>
            </a:r>
            <a:endParaRPr lang="en-US" sz="660" dirty="0"/>
          </a:p>
        </p:txBody>
      </p:sp>
      <p:sp>
        <p:nvSpPr>
          <p:cNvPr id="92" name="Text 90"/>
          <p:cNvSpPr/>
          <p:nvPr/>
        </p:nvSpPr>
        <p:spPr>
          <a:xfrm>
            <a:off x="6263640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5C6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task_id (1:N)</a:t>
            </a:r>
            <a:endParaRPr lang="en-US" sz="620" dirty="0"/>
          </a:p>
        </p:txBody>
      </p:sp>
      <p:sp>
        <p:nvSpPr>
          <p:cNvPr id="93" name="Text 91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 = projects/users 허브 FK (teal/amber)  ·  점선 = tasks → github_records 선택적 FK(linked_task_id)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B886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테이블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코어 · 회의 테이블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365760"/>
          </a:xfrm>
          <a:prstGeom prst="rect">
            <a:avLst/>
          </a:prstGeom>
          <a:solidFill>
            <a:srgbClr val="6B7269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17320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/ projects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00200"/>
                <a:gridCol w="2331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필드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타입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44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PK · 사용자/프로젝트 식별자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VARCHAR(255)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로그인 계정 (users)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title, deadline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VARCHAR, DATE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프로젝트명 · 마감일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project_members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project_id·user_id FK, role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417320"/>
            <a:ext cx="5440680" cy="365760"/>
          </a:xfrm>
          <a:prstGeom prst="rect">
            <a:avLst/>
          </a:prstGeom>
          <a:solidFill>
            <a:srgbClr val="4D6FBD"/>
          </a:solidFill>
          <a:ln/>
        </p:spPr>
      </p:sp>
      <p:sp>
        <p:nvSpPr>
          <p:cNvPr id="9" name="Text 6"/>
          <p:cNvSpPr/>
          <p:nvPr/>
        </p:nvSpPr>
        <p:spPr>
          <a:xfrm>
            <a:off x="6373368" y="1417320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meetings / meeting_analysis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00200"/>
                <a:gridCol w="2331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필드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타입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44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PK · 회의록 식별자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FK → projects.id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file_type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ENUM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문서 / 음성 / 영상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meeting_id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PK/FK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1:1 분석 결과 (summary 등)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B886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테이블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 · 활동 · GitHub 테이블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365760"/>
          </a:xfrm>
          <a:prstGeom prst="rect">
            <a:avLst/>
          </a:prstGeom>
          <a:solidFill>
            <a:srgbClr val="C26B34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17320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/ task_checklists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00200"/>
                <a:gridCol w="2331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필드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타입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44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PK · 업무 식별자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FK → projects.id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assignee_id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 NULL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FK → users.id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status, category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ENUM, VARCHAR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칸반 상태 · 분류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417320"/>
            <a:ext cx="5440680" cy="365760"/>
          </a:xfrm>
          <a:prstGeom prst="rect">
            <a:avLst/>
          </a:prstGeom>
          <a:solidFill>
            <a:srgbClr val="7457BD"/>
          </a:solidFill>
          <a:ln/>
        </p:spPr>
      </p:sp>
      <p:sp>
        <p:nvSpPr>
          <p:cNvPr id="9" name="Text 6"/>
          <p:cNvSpPr/>
          <p:nvPr/>
        </p:nvSpPr>
        <p:spPr>
          <a:xfrm>
            <a:off x="6373368" y="1417320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activities / github_records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00200"/>
                <a:gridCol w="2331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필드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타입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44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PK · 활동/기록 식별자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FK → projects.id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actor_id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FK → users.id (activities)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linked_task_id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 NULL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FK → tasks.id (선택적)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B886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테이블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산출물 · AI/평가 테이블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365760"/>
          </a:xfrm>
          <a:prstGeom prst="rect">
            <a:avLst/>
          </a:prstGeom>
          <a:solidFill>
            <a:srgbClr val="4A8F5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17320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 / ml_predictions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00200"/>
                <a:gridCol w="2331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필드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타입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44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PK · 식별자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FK → projects.id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type, status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발표자료/보고서/README 등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target_type/id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VARCHAR, 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폴리모픽 대상 (tasks·users)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417320"/>
            <a:ext cx="5440680" cy="365760"/>
          </a:xfrm>
          <a:prstGeom prst="rect">
            <a:avLst/>
          </a:prstGeom>
          <a:solidFill>
            <a:srgbClr val="B04F80"/>
          </a:solidFill>
          <a:ln/>
        </p:spPr>
      </p:sp>
      <p:sp>
        <p:nvSpPr>
          <p:cNvPr id="9" name="Text 6"/>
          <p:cNvSpPr/>
          <p:nvPr/>
        </p:nvSpPr>
        <p:spPr>
          <a:xfrm>
            <a:off x="6373368" y="1417320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contribution_reports / evaluation_scores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00200"/>
                <a:gridCol w="2331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필드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타입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55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44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PK · 식별자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project_id, user_id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FK → projects.id, users.id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summary, evidence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TEXT, JSON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기여도 요약 · 근거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score, is_public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DECIMAL, BOOL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55F"/>
                          </a:solidFill>
                        </a:rPr>
                        <a:t>심사자 점수 · 공개 여부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B886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관계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허브 기준 18개 테이블 관계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1463040"/>
                <a:gridCol w="54864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55F"/>
                          </a:solidFill>
                        </a:rPr>
                        <a:t>부모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55F"/>
                          </a:solidFill>
                        </a:rPr>
                        <a:t>자식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55F"/>
                          </a:solidFill>
                        </a:rPr>
                        <a:t>카디널리티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655F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project_members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프로젝트에 소속된 멤버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project_members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사용자가 참여한 프로젝트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meetings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프로젝트별 회의록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meetings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meeting_analysis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863B"/>
                          </a:solidFill>
                        </a:rPr>
                        <a:t>1:1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회의록별 AI 분석 결과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프로젝트 업무 보드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사용자에게 배정된 업무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task_checklists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업무별 체크리스트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github_records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 (선택)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업무에 연결된 커밋/PR/Issue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activities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프로젝트 내 활동 로그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activities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사용자가 발생시킨 활동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deliverables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프로젝트 산출물 목록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ml_predictions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프로젝트 단위 ML 예측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tasks/users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ml_predictions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폴리모픽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예측 대상 (업무 또는 팀원)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contribution_reports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프로젝트별 기여도 리포트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evaluation_scores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팀원별 최종 평가 점수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audit_logs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7A6F"/>
                          </a:solidFill>
                        </a:rPr>
                        <a:t>1:N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55F"/>
                          </a:solidFill>
                        </a:rPr>
                        <a:t>사용자별 감사 로그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18개 관계 중 대표 16개 · 나머지 2개(contribution_reports.user_id, evaluation_scores.project_id)는 동일 패턴 반복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D6FB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데이터 흐름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흐름 A · 회의록 → 업무 보드 자동 반영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FR-04, FR-05 — 회의록 업로드부터 업무 보드 반영까지 (PRD 7.1)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304288"/>
            <a:ext cx="384048" cy="384048"/>
          </a:xfrm>
          <a:prstGeom prst="ellipse">
            <a:avLst/>
          </a:prstGeom>
          <a:solidFill>
            <a:srgbClr val="4D6FB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업로드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문서/음성/영상 업로드, 텍스트 추출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4D6F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11880" y="2304288"/>
            <a:ext cx="384048" cy="384048"/>
          </a:xfrm>
          <a:prstGeom prst="ellipse">
            <a:avLst/>
          </a:prstGeom>
          <a:solidFill>
            <a:srgbClr val="4D6FBD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016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3016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요약·결정사항·위험·To-Do 후보 생성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016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4D6F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meeting_analysis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5216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2304288"/>
            <a:ext cx="384048" cy="384048"/>
          </a:xfrm>
          <a:prstGeom prst="ellipse">
            <a:avLst/>
          </a:prstGeom>
          <a:solidFill>
            <a:srgbClr val="4D6FBD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052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배정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업무는 자동, 미배정은 팀장이 지정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4D6F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3252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8972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72600" y="2304288"/>
            <a:ext cx="384048" cy="384048"/>
          </a:xfrm>
          <a:prstGeom prst="ellipse">
            <a:avLst/>
          </a:prstGeom>
          <a:solidFill>
            <a:srgbClr val="4D6FBD"/>
          </a:solidFill>
          <a:ln/>
        </p:spPr>
      </p:sp>
      <p:sp>
        <p:nvSpPr>
          <p:cNvPr id="29" name="Text 27"/>
          <p:cNvSpPr/>
          <p:nvPr/>
        </p:nvSpPr>
        <p:spPr>
          <a:xfrm>
            <a:off x="93726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9088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 반영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9088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승인된 업무가 보드·대시보드에 노출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9088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4D6F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  ·   activities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7457B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데이터 흐름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흐름 B · GitHub 연동 → 지연 위험도 예측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FR-16, FR-07 — GitHub 활동이 업무와 연결되고 ML 예측의 입력이 되는 경로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304288"/>
            <a:ext cx="384048" cy="384048"/>
          </a:xfrm>
          <a:prstGeom prst="ellipse">
            <a:avLst/>
          </a:prstGeom>
          <a:solidFill>
            <a:srgbClr val="7457B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수집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Webhook으로 커밋/PR/Issue 수신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45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github_records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11880" y="2304288"/>
            <a:ext cx="384048" cy="384048"/>
          </a:xfrm>
          <a:prstGeom prst="ellipse">
            <a:avLst/>
          </a:prstGeom>
          <a:solidFill>
            <a:srgbClr val="7457BD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016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연결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3016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메시지·Issue 기반 업무 매칭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016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45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github_records   ·   tasks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5216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2304288"/>
            <a:ext cx="384048" cy="384048"/>
          </a:xfrm>
          <a:prstGeom prst="ellipse">
            <a:avLst/>
          </a:prstGeom>
          <a:solidFill>
            <a:srgbClr val="7457BD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052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추론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상태·마감일·활동으로 위험도 산정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45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ml_predictions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3252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8972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72600" y="2304288"/>
            <a:ext cx="384048" cy="384048"/>
          </a:xfrm>
          <a:prstGeom prst="ellipse">
            <a:avLst/>
          </a:prstGeom>
          <a:solidFill>
            <a:srgbClr val="7457BD"/>
          </a:solidFill>
          <a:ln/>
        </p:spPr>
      </p:sp>
      <p:sp>
        <p:nvSpPr>
          <p:cNvPr id="29" name="Text 27"/>
          <p:cNvSpPr/>
          <p:nvPr/>
        </p:nvSpPr>
        <p:spPr>
          <a:xfrm>
            <a:off x="93726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9088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표시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9088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정상/주의/위험, 과부하 점수 노출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9088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45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ml_predictions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B04F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데이터 흐름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흐름 C · 심사자 평가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 — 업무·회의·GitHub·산출물 데이터가 기여도 리포트와 최종 점수로 수렴 (PRD 7.3)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304288"/>
            <a:ext cx="384048" cy="384048"/>
          </a:xfrm>
          <a:prstGeom prst="ellipse">
            <a:avLst/>
          </a:prstGeom>
          <a:solidFill>
            <a:srgbClr val="B04F8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집계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업무·회의·GitHub·산출물 기록 집계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B04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  ·   meetings   ·   github_records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11880" y="2304288"/>
            <a:ext cx="384048" cy="384048"/>
          </a:xfrm>
          <a:prstGeom prst="ellipse">
            <a:avLst/>
          </a:prstGeom>
          <a:solidFill>
            <a:srgbClr val="B04F80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016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생성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3016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팀원별 요약과 근거를 LLM이 정리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016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B04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contribution_reports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5216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2304288"/>
            <a:ext cx="384048" cy="384048"/>
          </a:xfrm>
          <a:prstGeom prst="ellipse">
            <a:avLst/>
          </a:prstGeom>
          <a:solidFill>
            <a:srgbClr val="B04F8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052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검토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심사자가 AI 평가 근거와 출처 확인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B04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ml_predictions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32520" y="3611880"/>
            <a:ext cx="457200" cy="0"/>
          </a:xfrm>
          <a:prstGeom prst="line">
            <a:avLst/>
          </a:prstGeom>
          <a:noFill/>
          <a:ln w="19050">
            <a:solidFill>
              <a:srgbClr val="8A8F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89720" y="2103120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AFAF8"/>
          </a:solidFill>
          <a:ln w="9525">
            <a:solidFill>
              <a:srgbClr val="DCD8CD"/>
            </a:solidFill>
            <a:prstDash val="solid"/>
          </a:ln>
          <a:effectLst>
            <a:outerShdw sx="100000" sy="100000" kx="0" ky="0" algn="bl" rotWithShape="0" blurRad="101600" dist="38100" dir="2700000">
              <a:srgbClr val="1E2422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72600" y="2304288"/>
            <a:ext cx="384048" cy="384048"/>
          </a:xfrm>
          <a:prstGeom prst="ellipse">
            <a:avLst/>
          </a:prstGeom>
          <a:solidFill>
            <a:srgbClr val="B04F80"/>
          </a:solidFill>
          <a:ln/>
        </p:spPr>
      </p:sp>
      <p:sp>
        <p:nvSpPr>
          <p:cNvPr id="29" name="Text 27"/>
          <p:cNvSpPr/>
          <p:nvPr/>
        </p:nvSpPr>
        <p:spPr>
          <a:xfrm>
            <a:off x="93726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90888" y="2852928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입력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90888" y="3429000"/>
            <a:ext cx="20208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점수 저장, 공개 여부·감사 로그 기록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90888" y="461772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B04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evaluation_scores   ·   audit_logs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72B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7EB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회의록에서 평가 근거까지,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7EB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하나로 연결된 데이터 구조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docs/WorkFlow_AI_PRD.md v2.0 · §5, §7, §9, §10 기준 재구성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 AI 데이터 아키텍처</dc:title>
  <dc:subject>PptxGenJS Presentation</dc:subject>
  <dc:creator>WorkFlow AI</dc:creator>
  <cp:lastModifiedBy>WorkFlow AI</cp:lastModifiedBy>
  <cp:revision>1</cp:revision>
  <dcterms:created xsi:type="dcterms:W3CDTF">2026-07-08T03:30:14Z</dcterms:created>
  <dcterms:modified xsi:type="dcterms:W3CDTF">2026-07-08T03:30:14Z</dcterms:modified>
</cp:coreProperties>
</file>